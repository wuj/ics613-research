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12604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ICS 613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41575" y="819150"/>
            <a:ext cx="9583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SOFTWARE ENGINEERING · UNIVERSITY OF HAWAIʻI AT MĀNOA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2751088"/>
            <a:ext cx="16639032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700" b="1" spc="-261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</a:t>
            </a:r>
            <a:pPr algn="l" indent="0" marL="0">
              <a:lnSpc>
                <a:spcPct val="92000"/>
              </a:lnSpc>
              <a:buNone/>
            </a:pPr>
            <a:r>
              <a:rPr lang="en-US" sz="8700" b="1" spc="-261" kern="0" dirty="0">
                <a:solidFill>
                  <a:srgbClr val="2F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700" dirty="0"/>
          </a:p>
        </p:txBody>
      </p:sp>
      <p:sp>
        <p:nvSpPr>
          <p:cNvPr id="5" name="Text 3"/>
          <p:cNvSpPr/>
          <p:nvPr/>
        </p:nvSpPr>
        <p:spPr>
          <a:xfrm>
            <a:off x="1066800" y="4053334"/>
            <a:ext cx="6241936" cy="2015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community food exchange that reduces waste through trusted, invite-only sharing of surplus produce.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66800" y="6450062"/>
            <a:ext cx="166390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spc="20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Kennan Kaneshiro · Shea Stevens · Matt Ong · Kim Cates · Jeff Wu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066800" y="8620125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8953500"/>
            <a:ext cx="286136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9296400"/>
            <a:ext cx="28613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Initiation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4454426" y="8953500"/>
            <a:ext cx="10022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54426" y="9296400"/>
            <a:ext cx="10022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4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5990034" y="8953500"/>
            <a:ext cx="10022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90034" y="9296400"/>
            <a:ext cx="10022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SU2026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6923841" y="9591675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17679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726680"/>
            <a:ext cx="6056452" cy="1927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775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Edible surplus food is discarded every day, yet there is no lightweight, trusted way for a small community to redistribute it before it spoils.</a:t>
            </a:r>
            <a:endParaRPr lang="en-US" sz="2775" dirty="0"/>
          </a:p>
        </p:txBody>
      </p:sp>
      <p:sp>
        <p:nvSpPr>
          <p:cNvPr id="6" name="Text 4"/>
          <p:cNvSpPr/>
          <p:nvPr/>
        </p:nvSpPr>
        <p:spPr>
          <a:xfrm>
            <a:off x="10487174" y="2374255"/>
            <a:ext cx="6723056" cy="1252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Households, gardeners, and small growers regularly have </a:t>
            </a:r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they can use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no easy outlet.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0487174" y="3836045"/>
            <a:ext cx="6723056" cy="1261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public marketplaces raise </a:t>
            </a:r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safety, and accountability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concerns around food handed between strangers.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0487174" y="5307360"/>
            <a:ext cx="6723056" cy="1252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groups such as a neighborhood, lab, or department </a:t>
            </a:r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a tool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invite-only sharing and coordination.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066800" y="9592519"/>
            <a:ext cx="7988097" cy="295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4848C">
                    <a:alpha val="99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⅓ of food produced globally is lost or wasted (FAO)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23841" y="9591675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14296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726680"/>
            <a:ext cx="4845131" cy="2399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775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responsive web app where invited members browse listings and request surplus food within a private community.</a:t>
            </a:r>
            <a:endParaRPr lang="en-US" sz="2775" dirty="0"/>
          </a:p>
        </p:txBody>
      </p:sp>
      <p:sp>
        <p:nvSpPr>
          <p:cNvPr id="6" name="Text 4"/>
          <p:cNvSpPr/>
          <p:nvPr/>
        </p:nvSpPr>
        <p:spPr>
          <a:xfrm>
            <a:off x="8956030" y="2374255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 access: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join by invitation and create a profile.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8956030" y="3396407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Listings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category, quantity, dietary / allergen tags, and a pickup window.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8956030" y="4418558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Browse, search, and filter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listings, then request a quantity.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8956030" y="5440710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message threads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notifications coordinate each exchange.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8956030" y="6462861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request queue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requests in order and prevents conflicts.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16923841" y="9592376"/>
            <a:ext cx="373559" cy="295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17679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374255"/>
            <a:ext cx="79270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WILL ACHIEVE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47800" y="3031480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</a:t>
            </a:r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web app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invite-only surplus food exchange.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447800" y="4034582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</a:t>
            </a:r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queue and lifecycle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quantity-integrity and state rules.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447800" y="5037683"/>
            <a:ext cx="6723056" cy="449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</a:t>
            </a:r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permission rules.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447800" y="5639246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</a:t>
            </a:r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clear README, and seeded demo data.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447800" y="6642348"/>
            <a:ext cx="6723056" cy="449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the </a:t>
            </a:r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SDLC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collaborating team.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9525000" y="2374255"/>
            <a:ext cx="79270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DELIVERED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06000" y="3031480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end users: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redistribute edible surplus before it spoils.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9906000" y="4034582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safety: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 access and a fair request queue keep exchanges accountable.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9906000" y="5037683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Convenience: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to find, request, and coordinate exchanges.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9906000" y="6040785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team: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 across the full development lifecycle.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16923841" y="9592380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9221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374255"/>
            <a:ext cx="79270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SCOPE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47800" y="3031480"/>
            <a:ext cx="6723056" cy="841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 registration and login, plus member profiles.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447800" y="4006007"/>
            <a:ext cx="6723056" cy="439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Browse, search, and filter active listings.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1447800" y="4578995"/>
            <a:ext cx="6723056" cy="850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queue </a:t>
            </a:r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ensure requests are handled in order without conflicts.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447800" y="5563046"/>
            <a:ext cx="6723056" cy="841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as a single source of truth for listings, threads, users, reviews, and more.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1447800" y="6537573"/>
            <a:ext cx="6723056" cy="841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message thread for each exchange (poster → recipient).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9525000" y="2764780"/>
            <a:ext cx="7696200" cy="19050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0" y="2374255"/>
            <a:ext cx="79270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18307" y="3031480"/>
            <a:ext cx="7180034" cy="2388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prices, tips, or any paid transactions. This exchange is free.</a:t>
            </a:r>
            <a:endParaRPr lang="en-US" sz="232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sign-up. Access stays invite-only.</a:t>
            </a:r>
            <a:endParaRPr lang="en-US" sz="2325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3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“Looking for” posts: posters only offer up what they have.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16923841" y="9592380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9221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3496866"/>
            <a:ext cx="7934325" cy="203835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9525">
            <a:solidFill>
              <a:srgbClr val="E2E1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0175" y="3830241"/>
            <a:ext cx="748560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UNREGISTERED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0175" y="4087416"/>
            <a:ext cx="748560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00175" y="4601766"/>
            <a:ext cx="7485602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an invite token but has not registered yet. A Guest can only register.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286875" y="3496866"/>
            <a:ext cx="7934325" cy="203835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9525">
            <a:solidFill>
              <a:srgbClr val="E2E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20250" y="3830241"/>
            <a:ext cx="748560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 USER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20250" y="4087416"/>
            <a:ext cx="748560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20250" y="4601766"/>
            <a:ext cx="7485602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registered, active user. A Member can browse, search, and filter listings, manage a profile, submit requests, and send messages.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66800" y="5782866"/>
            <a:ext cx="7934325" cy="267652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9525">
            <a:solidFill>
              <a:srgbClr val="E2E1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0175" y="6116241"/>
            <a:ext cx="748560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 OWNER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0175" y="6373416"/>
            <a:ext cx="748560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00175" y="6887766"/>
            <a:ext cx="7485602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 who owns a listing. A Poster handles that listing's request queue and messages the recipient. In this scope slice, active listings come from seeded data; creating listings is out of the current scope (see Section 6).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286875" y="5782866"/>
            <a:ext cx="7934325" cy="2676525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9525">
            <a:solidFill>
              <a:srgbClr val="E2E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0250" y="6116241"/>
            <a:ext cx="748560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20250" y="6373416"/>
            <a:ext cx="748560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20250" y="6887766"/>
            <a:ext cx="7485602" cy="995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 who submits a request for an item and, if approved, receives it. The poster reaches the recipient through the message thread.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6923841" y="9592377"/>
            <a:ext cx="373559" cy="295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21062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Use Cases &amp; User Stories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980259"/>
            <a:ext cx="7613142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36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US-01 · UC-01 · Register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357688"/>
            <a:ext cx="151938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2F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Guest,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2891433" y="4395788"/>
            <a:ext cx="1120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4012406" y="4357688"/>
            <a:ext cx="367719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with an invite token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371600" y="4395788"/>
            <a:ext cx="7551672" cy="718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I can join the trusted community.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371600" y="5404247"/>
            <a:ext cx="7613142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36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US-06 · UC-06 · Browse &amp; filter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5781675"/>
            <a:ext cx="179858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2F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Member,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3170634" y="5819775"/>
            <a:ext cx="1120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4291608" y="5781675"/>
            <a:ext cx="33543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browse, search, and filter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371600" y="5819775"/>
            <a:ext cx="7184382" cy="718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listings, so I can find items of interest.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371600" y="6828234"/>
            <a:ext cx="7613142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36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US-08 · UC-08 · Submit request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7205663"/>
            <a:ext cx="197971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2F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Recipient,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3351758" y="7243763"/>
            <a:ext cx="1120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4472732" y="7205663"/>
            <a:ext cx="223420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request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371600" y="7243763"/>
            <a:ext cx="7578344" cy="718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quantity, so it joins the listing's queue.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829800" y="3980259"/>
            <a:ext cx="7613142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36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US-09 · UC-09 · View queue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29800" y="4357688"/>
            <a:ext cx="157266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2F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Poster,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11402913" y="4395788"/>
            <a:ext cx="30745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see my listing's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9829800" y="4357688"/>
            <a:ext cx="7375998" cy="7852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requests in order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10521107" y="4780955"/>
            <a:ext cx="35372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I can handle them fairly.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9829800" y="5413772"/>
            <a:ext cx="7613142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36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US-10 · UC-10 · Approve / deny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29800" y="5791200"/>
            <a:ext cx="157266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2F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Poster,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11402913" y="5829300"/>
            <a:ext cx="1120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12523887" y="5791200"/>
            <a:ext cx="213851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deny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9829800" y="5829300"/>
            <a:ext cx="7477171" cy="718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request, so I control distribution without conflicts.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9829800" y="6837759"/>
            <a:ext cx="7613142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spc="36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US-12 · UC-12 · Message thread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29800" y="7215188"/>
            <a:ext cx="179858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2F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Member,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11628834" y="7253288"/>
            <a:ext cx="1120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</a:t>
            </a:r>
            <a:endParaRPr lang="en-US" sz="2175" dirty="0"/>
          </a:p>
        </p:txBody>
      </p:sp>
      <p:sp>
        <p:nvSpPr>
          <p:cNvPr id="33" name="Text 31"/>
          <p:cNvSpPr/>
          <p:nvPr/>
        </p:nvSpPr>
        <p:spPr>
          <a:xfrm>
            <a:off x="12749808" y="7215188"/>
            <a:ext cx="12069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2175" dirty="0"/>
          </a:p>
        </p:txBody>
      </p:sp>
      <p:sp>
        <p:nvSpPr>
          <p:cNvPr id="34" name="Text 32"/>
          <p:cNvSpPr/>
          <p:nvPr/>
        </p:nvSpPr>
        <p:spPr>
          <a:xfrm>
            <a:off x="9829800" y="7253288"/>
            <a:ext cx="6861087" cy="718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party in the exchange thread, so we can coordinate.</a:t>
            </a:r>
            <a:endParaRPr lang="en-US" sz="2175" dirty="0"/>
          </a:p>
        </p:txBody>
      </p:sp>
      <p:sp>
        <p:nvSpPr>
          <p:cNvPr id="35" name="Text 33"/>
          <p:cNvSpPr/>
          <p:nvPr/>
        </p:nvSpPr>
        <p:spPr>
          <a:xfrm>
            <a:off x="1066800" y="9592381"/>
            <a:ext cx="99473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user stories (US-n), each traced to its source use case (UC-n)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923841" y="9591675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21062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09675" y="2440930"/>
            <a:ext cx="2551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story · US-10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11960" y="2374255"/>
            <a:ext cx="518283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25" b="1" spc="-2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deny the next request</a:t>
            </a:r>
            <a:endParaRPr lang="en-US" sz="2625" dirty="0"/>
          </a:p>
        </p:txBody>
      </p:sp>
      <p:sp>
        <p:nvSpPr>
          <p:cNvPr id="7" name="Text 5"/>
          <p:cNvSpPr/>
          <p:nvPr/>
        </p:nvSpPr>
        <p:spPr>
          <a:xfrm>
            <a:off x="11497717" y="2440930"/>
            <a:ext cx="17223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</a:t>
            </a:r>
            <a:pPr algn="l" indent="0" marL="0">
              <a:buNone/>
            </a:pPr>
            <a:r>
              <a:rPr lang="en-US" sz="1800" b="1" dirty="0">
                <a:solidFill>
                  <a:srgbClr val="16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UC-10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467755" y="2440930"/>
            <a:ext cx="17223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</a:t>
            </a:r>
            <a:pPr algn="l" indent="0" marL="0">
              <a:buNone/>
            </a:pPr>
            <a:r>
              <a:rPr lang="en-US" sz="1800" b="1" dirty="0">
                <a:solidFill>
                  <a:srgbClr val="16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437793" y="2440930"/>
            <a:ext cx="18596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</a:t>
            </a:r>
            <a:pPr algn="l" indent="0" marL="0">
              <a:buNone/>
            </a:pPr>
            <a:r>
              <a:rPr lang="en-US" sz="1800" b="1" dirty="0">
                <a:solidFill>
                  <a:srgbClr val="16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66800" y="3021955"/>
            <a:ext cx="28575" cy="373261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11" name="Text 9"/>
          <p:cNvSpPr/>
          <p:nvPr/>
        </p:nvSpPr>
        <p:spPr>
          <a:xfrm>
            <a:off x="1343025" y="3021955"/>
            <a:ext cx="16362807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“As a Poster, I want to approve or deny a pending request on my listing, so I control who receives my items, in order, without conflicts.”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66800" y="3700016"/>
            <a:ext cx="7934325" cy="1901279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6800" y="5591770"/>
            <a:ext cx="7934325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6800" y="3700016"/>
            <a:ext cx="7934325" cy="28575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6800" y="3700016"/>
            <a:ext cx="9525" cy="1901279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6" name="Shape 14"/>
          <p:cNvSpPr/>
          <p:nvPr/>
        </p:nvSpPr>
        <p:spPr>
          <a:xfrm>
            <a:off x="8991600" y="3700016"/>
            <a:ext cx="9525" cy="1901279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7" name="Text 15"/>
          <p:cNvSpPr/>
          <p:nvPr/>
        </p:nvSpPr>
        <p:spPr>
          <a:xfrm>
            <a:off x="1343025" y="3957191"/>
            <a:ext cx="76033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43025" y="4328666"/>
            <a:ext cx="7603331" cy="1091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and approved qty ≤ remaining,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Poster approves,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becomes </a:t>
            </a:r>
            <a:pPr algn="l" indent="0" marL="0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remaining quantity decreases, and the Recipient is notified.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86875" y="3700016"/>
            <a:ext cx="7934325" cy="1901279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6875" y="5591770"/>
            <a:ext cx="7934325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6875" y="3700016"/>
            <a:ext cx="7934325" cy="28575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22" name="Shape 20"/>
          <p:cNvSpPr/>
          <p:nvPr/>
        </p:nvSpPr>
        <p:spPr>
          <a:xfrm>
            <a:off x="9286875" y="3700016"/>
            <a:ext cx="9525" cy="1901279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3" name="Shape 21"/>
          <p:cNvSpPr/>
          <p:nvPr/>
        </p:nvSpPr>
        <p:spPr>
          <a:xfrm>
            <a:off x="17211675" y="3700016"/>
            <a:ext cx="9525" cy="1901279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4" name="Text 22"/>
          <p:cNvSpPr/>
          <p:nvPr/>
        </p:nvSpPr>
        <p:spPr>
          <a:xfrm>
            <a:off x="9563100" y="3957191"/>
            <a:ext cx="76033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63100" y="4328666"/>
            <a:ext cx="7603331" cy="742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request,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Poster denies it,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becomes </a:t>
            </a:r>
            <a:pPr algn="l" indent="0" marL="0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(terminal) and the Recipient is notified.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66800" y="5829895"/>
            <a:ext cx="7934325" cy="1891754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6800" y="7712125"/>
            <a:ext cx="7934325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6800" y="5829895"/>
            <a:ext cx="7934325" cy="28575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6800" y="5829895"/>
            <a:ext cx="9525" cy="1891754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0" name="Shape 28"/>
          <p:cNvSpPr/>
          <p:nvPr/>
        </p:nvSpPr>
        <p:spPr>
          <a:xfrm>
            <a:off x="8991600" y="5829895"/>
            <a:ext cx="9525" cy="1891754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1" name="Text 29"/>
          <p:cNvSpPr/>
          <p:nvPr/>
        </p:nvSpPr>
        <p:spPr>
          <a:xfrm>
            <a:off x="1343025" y="6087070"/>
            <a:ext cx="76033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PREVENTED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43025" y="6458545"/>
            <a:ext cx="7603331" cy="1082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approval would push the approved quantity past the remaining quantity,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Poster tries to approve,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</a:t>
            </a:r>
            <a:pPr algn="l" indent="0" marL="0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it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nothing changes.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9286875" y="5829895"/>
            <a:ext cx="7934325" cy="1891754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286875" y="7712125"/>
            <a:ext cx="7934325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5" name="Shape 33"/>
          <p:cNvSpPr/>
          <p:nvPr/>
        </p:nvSpPr>
        <p:spPr>
          <a:xfrm>
            <a:off x="9286875" y="5829895"/>
            <a:ext cx="7934325" cy="28575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36" name="Shape 34"/>
          <p:cNvSpPr/>
          <p:nvPr/>
        </p:nvSpPr>
        <p:spPr>
          <a:xfrm>
            <a:off x="9286875" y="5829895"/>
            <a:ext cx="9525" cy="1891754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7" name="Shape 35"/>
          <p:cNvSpPr/>
          <p:nvPr/>
        </p:nvSpPr>
        <p:spPr>
          <a:xfrm>
            <a:off x="17211675" y="5829895"/>
            <a:ext cx="9525" cy="1891754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8" name="Text 36"/>
          <p:cNvSpPr/>
          <p:nvPr/>
        </p:nvSpPr>
        <p:spPr>
          <a:xfrm>
            <a:off x="9563100" y="6087070"/>
            <a:ext cx="76033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563100" y="6458545"/>
            <a:ext cx="7603331" cy="754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Member who does </a:t>
            </a:r>
            <a:pPr algn="l" indent="0" marL="0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listing,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try to approve or deny, </a:t>
            </a:r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is </a:t>
            </a:r>
            <a:pPr algn="l" indent="0" marL="0">
              <a:lnSpc>
                <a:spcPct val="13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</a:t>
            </a:r>
            <a:pPr algn="l" indent="0" marL="0">
              <a:lnSpc>
                <a:spcPct val="13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nothing changes.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066800" y="9592521"/>
            <a:ext cx="13263061" cy="295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4848C">
                    <a:alpha val="99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Representative scenarios from US-10 · the full Gherkin set lives in the user-stories doc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923841" y="9591675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5575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LOGIC · UML STATE DIAGRAM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Lifecycle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881688" y="4489996"/>
            <a:ext cx="2190750" cy="8667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rgbClr val="2F8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48388" y="4756696"/>
            <a:ext cx="16573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spc="41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REQUESTED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8072438" y="4909096"/>
            <a:ext cx="476250" cy="2857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8" name="Shape 6"/>
          <p:cNvSpPr/>
          <p:nvPr/>
        </p:nvSpPr>
        <p:spPr>
          <a:xfrm>
            <a:off x="8548688" y="3318421"/>
            <a:ext cx="28575" cy="320992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9" name="Text 7"/>
          <p:cNvSpPr/>
          <p:nvPr/>
        </p:nvSpPr>
        <p:spPr>
          <a:xfrm>
            <a:off x="8811369" y="3608933"/>
            <a:ext cx="10365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77263" y="3942308"/>
            <a:ext cx="1428750" cy="2857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11" name="Shape 9"/>
          <p:cNvSpPr/>
          <p:nvPr/>
        </p:nvSpPr>
        <p:spPr>
          <a:xfrm>
            <a:off x="10215563" y="3356521"/>
            <a:ext cx="2190750" cy="866775"/>
          </a:xfrm>
          <a:prstGeom prst="roundRect">
            <a:avLst>
              <a:gd name="adj" fmla="val 6593"/>
            </a:avLst>
          </a:prstGeom>
          <a:solidFill>
            <a:srgbClr val="2F8A55"/>
          </a:solidFill>
          <a:ln w="19050">
            <a:solidFill>
              <a:srgbClr val="2F8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82263" y="3623221"/>
            <a:ext cx="16573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spc="41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017198" y="4742408"/>
            <a:ext cx="6249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77263" y="5075783"/>
            <a:ext cx="1428750" cy="2857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15563" y="4489996"/>
            <a:ext cx="2190750" cy="8667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rgbClr val="1616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82263" y="4756696"/>
            <a:ext cx="16573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spc="41" kern="0" dirty="0">
                <a:solidFill>
                  <a:srgbClr val="16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DENIED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8742908" y="5875883"/>
            <a:ext cx="11736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withdraw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77263" y="6209258"/>
            <a:ext cx="1428750" cy="28575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15563" y="5623471"/>
            <a:ext cx="2190750" cy="866775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9050">
            <a:solidFill>
              <a:srgbClr val="1616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82263" y="5890171"/>
            <a:ext cx="16573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spc="41" kern="0" dirty="0">
                <a:solidFill>
                  <a:srgbClr val="1616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CANCELLED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066800" y="7061746"/>
            <a:ext cx="253365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 → APPROVED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95700" y="7061746"/>
            <a:ext cx="1927175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remaining quantity decreases and the recipient is notified.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6213425" y="7061746"/>
            <a:ext cx="254511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DENIED · CANCELLED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53785" y="7061746"/>
            <a:ext cx="1815405" cy="17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terminal; only a pending request can be withdrawn.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1259741" y="7061746"/>
            <a:ext cx="185931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 rule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14300" y="7061746"/>
            <a:ext cx="4127107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approved quantity can never exceed the remaining quantity, the conflict the queue prevents.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6923841" y="9592374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5575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· THREE-TIER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273157"/>
            <a:ext cx="4329261" cy="34290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7692632"/>
            <a:ext cx="4329261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4273157"/>
            <a:ext cx="4329261" cy="38100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8" name="Shape 6"/>
          <p:cNvSpPr/>
          <p:nvPr/>
        </p:nvSpPr>
        <p:spPr>
          <a:xfrm>
            <a:off x="1066800" y="4273157"/>
            <a:ext cx="9525" cy="3429000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9" name="Shape 7"/>
          <p:cNvSpPr/>
          <p:nvPr/>
        </p:nvSpPr>
        <p:spPr>
          <a:xfrm>
            <a:off x="5386536" y="4273157"/>
            <a:ext cx="9525" cy="3429000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0" name="Text 8"/>
          <p:cNvSpPr/>
          <p:nvPr/>
        </p:nvSpPr>
        <p:spPr>
          <a:xfrm>
            <a:off x="1362075" y="4616057"/>
            <a:ext cx="38508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62075" y="4949432"/>
            <a:ext cx="385087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1362075" y="5397107"/>
            <a:ext cx="38508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in the browser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2075" y="5844782"/>
            <a:ext cx="3850873" cy="345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362075" y="6266263"/>
            <a:ext cx="385087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362075" y="6678220"/>
            <a:ext cx="385087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routing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5472261" y="5665742"/>
            <a:ext cx="1585317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REST · JSON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33779" y="4273157"/>
            <a:ext cx="4329410" cy="34290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3779" y="7692632"/>
            <a:ext cx="432941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3779" y="4273157"/>
            <a:ext cx="4329410" cy="38100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3779" y="4273157"/>
            <a:ext cx="9525" cy="3429000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53664" y="4273157"/>
            <a:ext cx="9525" cy="3429000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2" name="Text 20"/>
          <p:cNvSpPr/>
          <p:nvPr/>
        </p:nvSpPr>
        <p:spPr>
          <a:xfrm>
            <a:off x="7429054" y="4616057"/>
            <a:ext cx="38510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29054" y="4949432"/>
            <a:ext cx="385102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API</a:t>
            </a:r>
            <a:endParaRPr lang="en-US" sz="2475" dirty="0"/>
          </a:p>
        </p:txBody>
      </p:sp>
      <p:sp>
        <p:nvSpPr>
          <p:cNvPr id="24" name="Text 22"/>
          <p:cNvSpPr/>
          <p:nvPr/>
        </p:nvSpPr>
        <p:spPr>
          <a:xfrm>
            <a:off x="7429054" y="5397107"/>
            <a:ext cx="38510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29054" y="5844782"/>
            <a:ext cx="3851026" cy="345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7429054" y="6266263"/>
            <a:ext cx="385102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validation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7429054" y="6678220"/>
            <a:ext cx="385102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 role-based access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7429054" y="7090176"/>
            <a:ext cx="385102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lifecycle &amp; quantity rules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933634" y="5802813"/>
            <a:ext cx="48785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891939" y="4273157"/>
            <a:ext cx="4329261" cy="34290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2891939" y="7692632"/>
            <a:ext cx="4329261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2" name="Shape 30"/>
          <p:cNvSpPr/>
          <p:nvPr/>
        </p:nvSpPr>
        <p:spPr>
          <a:xfrm>
            <a:off x="12891939" y="4273157"/>
            <a:ext cx="4329261" cy="38100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33" name="Shape 31"/>
          <p:cNvSpPr/>
          <p:nvPr/>
        </p:nvSpPr>
        <p:spPr>
          <a:xfrm>
            <a:off x="12891939" y="4273157"/>
            <a:ext cx="9525" cy="3429000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4" name="Shape 32"/>
          <p:cNvSpPr/>
          <p:nvPr/>
        </p:nvSpPr>
        <p:spPr>
          <a:xfrm>
            <a:off x="17211675" y="4273157"/>
            <a:ext cx="9525" cy="3429000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5" name="Text 33"/>
          <p:cNvSpPr/>
          <p:nvPr/>
        </p:nvSpPr>
        <p:spPr>
          <a:xfrm>
            <a:off x="13187214" y="4616057"/>
            <a:ext cx="38508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187214" y="4949432"/>
            <a:ext cx="385087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475" dirty="0"/>
          </a:p>
        </p:txBody>
      </p:sp>
      <p:sp>
        <p:nvSpPr>
          <p:cNvPr id="37" name="Text 35"/>
          <p:cNvSpPr/>
          <p:nvPr/>
        </p:nvSpPr>
        <p:spPr>
          <a:xfrm>
            <a:off x="13187214" y="5397107"/>
            <a:ext cx="38508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in Docker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187214" y="5844782"/>
            <a:ext cx="3850873" cy="345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13187214" y="6266263"/>
            <a:ext cx="385087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· Listings · Requests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13187214" y="6678220"/>
            <a:ext cx="385087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 · Messages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13187214" y="7090176"/>
            <a:ext cx="385087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· invites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1066800" y="9592670"/>
            <a:ext cx="103995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4848C">
                    <a:alpha val="99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Containerized with Docker · built &amp; deployed via GitHub Actions CI/CD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6923841" y="9591675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17679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374255"/>
            <a:ext cx="536310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66800" y="3536305"/>
            <a:ext cx="5206901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3098155"/>
            <a:ext cx="7585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5923062" y="3174355"/>
            <a:ext cx="35063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6800" y="4088755"/>
            <a:ext cx="5206901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3650605"/>
            <a:ext cx="13567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5374332" y="3726805"/>
            <a:ext cx="8993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" y="4641205"/>
            <a:ext cx="5206901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203055"/>
            <a:ext cx="5497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4688384" y="4279255"/>
            <a:ext cx="15853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/ dev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6800" y="5193655"/>
            <a:ext cx="5206901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4755505"/>
            <a:ext cx="17850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npm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5648771" y="4831705"/>
            <a:ext cx="6249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40401" y="2374255"/>
            <a:ext cx="53632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&amp; DATA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40401" y="3536305"/>
            <a:ext cx="520705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0" name="Text 18"/>
          <p:cNvSpPr/>
          <p:nvPr/>
        </p:nvSpPr>
        <p:spPr>
          <a:xfrm>
            <a:off x="6540401" y="3098155"/>
            <a:ext cx="1028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887843" y="3174355"/>
            <a:ext cx="18596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framework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40401" y="4088755"/>
            <a:ext cx="520705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3" name="Text 21"/>
          <p:cNvSpPr/>
          <p:nvPr/>
        </p:nvSpPr>
        <p:spPr>
          <a:xfrm>
            <a:off x="6540401" y="3650605"/>
            <a:ext cx="14576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0573792" y="3726805"/>
            <a:ext cx="11736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40401" y="4641205"/>
            <a:ext cx="520705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6" name="Text 24"/>
          <p:cNvSpPr/>
          <p:nvPr/>
        </p:nvSpPr>
        <p:spPr>
          <a:xfrm>
            <a:off x="6540401" y="4203055"/>
            <a:ext cx="82435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0573792" y="4279255"/>
            <a:ext cx="11736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 tests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14150" y="2374255"/>
            <a:ext cx="53632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TOOLING &amp; DEVOPS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014150" y="3536305"/>
            <a:ext cx="520705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0" name="Text 28"/>
          <p:cNvSpPr/>
          <p:nvPr/>
        </p:nvSpPr>
        <p:spPr>
          <a:xfrm>
            <a:off x="12014150" y="3098155"/>
            <a:ext cx="91678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5224373" y="3174355"/>
            <a:ext cx="19968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VCS · PRs · CI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014150" y="4088755"/>
            <a:ext cx="520705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3" name="Text 31"/>
          <p:cNvSpPr/>
          <p:nvPr/>
        </p:nvSpPr>
        <p:spPr>
          <a:xfrm>
            <a:off x="12014150" y="3650605"/>
            <a:ext cx="18734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16459051" y="3726805"/>
            <a:ext cx="7621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CI/CD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2014150" y="4641205"/>
            <a:ext cx="520705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6" name="Text 34"/>
          <p:cNvSpPr/>
          <p:nvPr/>
        </p:nvSpPr>
        <p:spPr>
          <a:xfrm>
            <a:off x="12014150" y="4203055"/>
            <a:ext cx="9130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15910322" y="4279255"/>
            <a:ext cx="13108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packaging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014150" y="5193655"/>
            <a:ext cx="520705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9" name="Text 37"/>
          <p:cNvSpPr/>
          <p:nvPr/>
        </p:nvSpPr>
        <p:spPr>
          <a:xfrm>
            <a:off x="12014150" y="4755505"/>
            <a:ext cx="15537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· Ruff</a:t>
            </a:r>
            <a:endParaRPr lang="en-US" sz="2025" dirty="0"/>
          </a:p>
        </p:txBody>
      </p:sp>
      <p:sp>
        <p:nvSpPr>
          <p:cNvPr id="40" name="Text 38"/>
          <p:cNvSpPr/>
          <p:nvPr/>
        </p:nvSpPr>
        <p:spPr>
          <a:xfrm>
            <a:off x="16184612" y="4831705"/>
            <a:ext cx="10365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linting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2014150" y="5746105"/>
            <a:ext cx="520705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42" name="Text 40"/>
          <p:cNvSpPr/>
          <p:nvPr/>
        </p:nvSpPr>
        <p:spPr>
          <a:xfrm>
            <a:off x="12014150" y="5307955"/>
            <a:ext cx="71199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15635883" y="5384155"/>
            <a:ext cx="15853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tasks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6923841" y="9592384"/>
            <a:ext cx="373559" cy="295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34848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· AGILE SDLC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Methodology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3548955"/>
            <a:ext cx="10476041" cy="1272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40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in </a:t>
            </a:r>
            <a:pPr algn="l" indent="0" marL="0">
              <a:lnSpc>
                <a:spcPct val="134000"/>
              </a:lnSpc>
              <a:buNone/>
            </a:pPr>
            <a:r>
              <a:rPr lang="en-US" sz="24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one-week iterations </a:t>
            </a:r>
            <a:pPr algn="l" indent="0" marL="0">
              <a:lnSpc>
                <a:spcPct val="134000"/>
              </a:lnSpc>
              <a:buNone/>
            </a:pPr>
            <a:r>
              <a:rPr lang="en-US" sz="240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 the course schedule. Each sprint runs a full slice of the lifecycle and ends with a working, demonstrable increment.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6825" y="5355134"/>
            <a:ext cx="31707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72605" y="5745659"/>
            <a:ext cx="819150" cy="819150"/>
          </a:xfrm>
          <a:prstGeom prst="ellipse">
            <a:avLst/>
          </a:prstGeom>
          <a:ln w="19050">
            <a:solidFill>
              <a:srgbClr val="2F8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3555" y="5764709"/>
            <a:ext cx="8572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96825" y="6736259"/>
            <a:ext cx="31707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96825" y="7164884"/>
            <a:ext cx="3170712" cy="623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 &amp; acceptance criteria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27583" y="5355134"/>
            <a:ext cx="31708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03366" y="5745659"/>
            <a:ext cx="819150" cy="819150"/>
          </a:xfrm>
          <a:prstGeom prst="ellipse">
            <a:avLst/>
          </a:prstGeom>
          <a:ln w="19050">
            <a:solidFill>
              <a:srgbClr val="2F8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4316" y="5764709"/>
            <a:ext cx="8572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327583" y="6736259"/>
            <a:ext cx="317086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327583" y="7164884"/>
            <a:ext cx="3170865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UML, DB schema, interfaces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58493" y="5355134"/>
            <a:ext cx="31708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34276" y="5745659"/>
            <a:ext cx="819150" cy="819150"/>
          </a:xfrm>
          <a:prstGeom prst="ellipse">
            <a:avLst/>
          </a:prstGeom>
          <a:ln w="19050">
            <a:solidFill>
              <a:srgbClr val="2F8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15226" y="5764709"/>
            <a:ext cx="8572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558493" y="6736259"/>
            <a:ext cx="317086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558493" y="7164884"/>
            <a:ext cx="3170865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branches &amp; reviews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89403" y="5355134"/>
            <a:ext cx="31708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965186" y="5745659"/>
            <a:ext cx="819150" cy="819150"/>
          </a:xfrm>
          <a:prstGeom prst="ellipse">
            <a:avLst/>
          </a:prstGeom>
          <a:ln w="19050">
            <a:solidFill>
              <a:srgbClr val="2F8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946136" y="5764709"/>
            <a:ext cx="8572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789403" y="6736259"/>
            <a:ext cx="317086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789403" y="7164884"/>
            <a:ext cx="3170865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Unit, permissions, e2e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020313" y="5355134"/>
            <a:ext cx="31708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196096" y="5745659"/>
            <a:ext cx="819150" cy="819150"/>
          </a:xfrm>
          <a:prstGeom prst="ellipse">
            <a:avLst/>
          </a:prstGeom>
          <a:ln w="19050">
            <a:solidFill>
              <a:srgbClr val="2F8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177046" y="5764709"/>
            <a:ext cx="85725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4020313" y="6736259"/>
            <a:ext cx="317086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4020313" y="7164884"/>
            <a:ext cx="3170865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Deploy, demo, retrospective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4484" y="8188226"/>
            <a:ext cx="166390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 repeat each sprint · incremental, iterative delivery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6923841" y="9592379"/>
            <a:ext cx="373559" cy="295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126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 Plan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493419"/>
            <a:ext cx="5194250" cy="2969419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9525">
            <a:solidFill>
              <a:srgbClr val="E2E1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4788694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 APPROACH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9725" y="5217319"/>
            <a:ext cx="4494161" cy="671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</a:t>
            </a:r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each feature (Vitest, pytest)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9725" y="5984081"/>
            <a:ext cx="449416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</a:t>
            </a:r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role tests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9725" y="6438900"/>
            <a:ext cx="449416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</a:t>
            </a:r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happy-path coverage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09725" y="6893719"/>
            <a:ext cx="4494161" cy="350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runs all tests on every PR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546800" y="4493419"/>
            <a:ext cx="5194250" cy="2969419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9525">
            <a:solidFill>
              <a:srgbClr val="E2E1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42075" y="4788694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DEFECT TRACKING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9725" y="5217319"/>
            <a:ext cx="449416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filed as </a:t>
            </a:r>
            <a:pPr algn="l" indent="0" marL="0">
              <a:lnSpc>
                <a:spcPct val="12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089725" y="5672138"/>
            <a:ext cx="4494161" cy="350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&amp; priority labels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089725" y="6117431"/>
            <a:ext cx="4494161" cy="350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Triaged in the weekly sync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089725" y="6562725"/>
            <a:ext cx="4494161" cy="350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via branch → PR → verify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2026801" y="4493419"/>
            <a:ext cx="5194250" cy="2969419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9525">
            <a:solidFill>
              <a:srgbClr val="E2E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22076" y="4788694"/>
            <a:ext cx="47418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QUALITY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569726" y="5217319"/>
            <a:ext cx="449416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PR review </a:t>
            </a:r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(≥ 1 approver)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569726" y="5672138"/>
            <a:ext cx="4494161" cy="350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&amp; format gates (ESLint, Ruff)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569726" y="6117431"/>
            <a:ext cx="4494161" cy="350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checking (TypeScript)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569726" y="6562725"/>
            <a:ext cx="4494161" cy="350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standards in the Wiki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6923841" y="9592381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7529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&amp; Mitigation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4006602"/>
            <a:ext cx="47249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13090" y="4006602"/>
            <a:ext cx="20710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74682" y="4006602"/>
            <a:ext cx="90512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66800" y="5161955"/>
            <a:ext cx="484629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4654302"/>
            <a:ext cx="4724979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creep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913090" y="5161955"/>
            <a:ext cx="2261592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1" name="Text 9"/>
          <p:cNvSpPr/>
          <p:nvPr/>
        </p:nvSpPr>
        <p:spPr>
          <a:xfrm>
            <a:off x="5913090" y="4654302"/>
            <a:ext cx="207109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74682" y="5161955"/>
            <a:ext cx="904651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3" name="Text 11"/>
          <p:cNvSpPr/>
          <p:nvPr/>
        </p:nvSpPr>
        <p:spPr>
          <a:xfrm>
            <a:off x="8174682" y="4654302"/>
            <a:ext cx="905121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an MVP; defer extras to the backlog; review scope each sprint.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66800" y="5855345"/>
            <a:ext cx="484629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5352455"/>
            <a:ext cx="4724979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workload / availability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5913090" y="5855345"/>
            <a:ext cx="2261592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7" name="Text 15"/>
          <p:cNvSpPr/>
          <p:nvPr/>
        </p:nvSpPr>
        <p:spPr>
          <a:xfrm>
            <a:off x="5913090" y="5352455"/>
            <a:ext cx="207109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74682" y="5855345"/>
            <a:ext cx="904651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9" name="Text 17"/>
          <p:cNvSpPr/>
          <p:nvPr/>
        </p:nvSpPr>
        <p:spPr>
          <a:xfrm>
            <a:off x="8174682" y="5352455"/>
            <a:ext cx="905121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roles, small tasks, and pairing on critical paths.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66800" y="6548735"/>
            <a:ext cx="484629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" y="6045845"/>
            <a:ext cx="4724979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backend integration drift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913090" y="6548735"/>
            <a:ext cx="2261592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3" name="Text 21"/>
          <p:cNvSpPr/>
          <p:nvPr/>
        </p:nvSpPr>
        <p:spPr>
          <a:xfrm>
            <a:off x="5913090" y="6045845"/>
            <a:ext cx="207109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174682" y="6548735"/>
            <a:ext cx="904651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5" name="Text 23"/>
          <p:cNvSpPr/>
          <p:nvPr/>
        </p:nvSpPr>
        <p:spPr>
          <a:xfrm>
            <a:off x="8174682" y="6045845"/>
            <a:ext cx="905121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API schema early (OpenAPI); mock endpoints.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66800" y="7242125"/>
            <a:ext cx="484629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7" name="Text 25"/>
          <p:cNvSpPr/>
          <p:nvPr/>
        </p:nvSpPr>
        <p:spPr>
          <a:xfrm>
            <a:off x="1066800" y="6739235"/>
            <a:ext cx="4724979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Concurrent-request quantity bug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5913090" y="7242125"/>
            <a:ext cx="2261592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9" name="Text 27"/>
          <p:cNvSpPr/>
          <p:nvPr/>
        </p:nvSpPr>
        <p:spPr>
          <a:xfrm>
            <a:off x="5913090" y="6739235"/>
            <a:ext cx="207109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174682" y="7242125"/>
            <a:ext cx="904651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682" y="6739235"/>
            <a:ext cx="905121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constraints + transactions + targeted tests.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66800" y="7935516"/>
            <a:ext cx="484629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3" name="Text 31"/>
          <p:cNvSpPr/>
          <p:nvPr/>
        </p:nvSpPr>
        <p:spPr>
          <a:xfrm>
            <a:off x="1066800" y="7432625"/>
            <a:ext cx="4724979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or deployment issues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5913090" y="7935516"/>
            <a:ext cx="2261592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5" name="Text 33"/>
          <p:cNvSpPr/>
          <p:nvPr/>
        </p:nvSpPr>
        <p:spPr>
          <a:xfrm>
            <a:off x="5913090" y="7432625"/>
            <a:ext cx="207109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174682" y="7935516"/>
            <a:ext cx="904651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7" name="Text 35"/>
          <p:cNvSpPr/>
          <p:nvPr/>
        </p:nvSpPr>
        <p:spPr>
          <a:xfrm>
            <a:off x="8174682" y="7432625"/>
            <a:ext cx="905121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CI/CD in Sprint 1; deploy a thin slice early.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6923841" y="9592380"/>
            <a:ext cx="373559" cy="295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15987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Artifacts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3844826"/>
            <a:ext cx="3881438" cy="2177058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6012359"/>
            <a:ext cx="388143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3844826"/>
            <a:ext cx="3881438" cy="28575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8" name="Shape 6"/>
          <p:cNvSpPr/>
          <p:nvPr/>
        </p:nvSpPr>
        <p:spPr>
          <a:xfrm>
            <a:off x="1066800" y="3844826"/>
            <a:ext cx="9525" cy="2177058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9" name="Shape 7"/>
          <p:cNvSpPr/>
          <p:nvPr/>
        </p:nvSpPr>
        <p:spPr>
          <a:xfrm>
            <a:off x="4938713" y="3844826"/>
            <a:ext cx="9525" cy="2177058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0" name="Text 8"/>
          <p:cNvSpPr/>
          <p:nvPr/>
        </p:nvSpPr>
        <p:spPr>
          <a:xfrm>
            <a:off x="1343025" y="4121051"/>
            <a:ext cx="34288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43025" y="4463951"/>
            <a:ext cx="34288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Spec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343025" y="4892576"/>
            <a:ext cx="342885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stories, acceptance criteria, and scope definition.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57788" y="3844826"/>
            <a:ext cx="3881438" cy="2177058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157788" y="6012359"/>
            <a:ext cx="388143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5" name="Shape 13"/>
          <p:cNvSpPr/>
          <p:nvPr/>
        </p:nvSpPr>
        <p:spPr>
          <a:xfrm>
            <a:off x="5157788" y="3844826"/>
            <a:ext cx="3881438" cy="28575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16" name="Shape 14"/>
          <p:cNvSpPr/>
          <p:nvPr/>
        </p:nvSpPr>
        <p:spPr>
          <a:xfrm>
            <a:off x="5157788" y="3844826"/>
            <a:ext cx="9525" cy="2177058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7" name="Shape 15"/>
          <p:cNvSpPr/>
          <p:nvPr/>
        </p:nvSpPr>
        <p:spPr>
          <a:xfrm>
            <a:off x="9029700" y="3844826"/>
            <a:ext cx="9525" cy="2177058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8" name="Text 16"/>
          <p:cNvSpPr/>
          <p:nvPr/>
        </p:nvSpPr>
        <p:spPr>
          <a:xfrm>
            <a:off x="5434013" y="4121051"/>
            <a:ext cx="34288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34013" y="4463951"/>
            <a:ext cx="34288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 Doc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5434013" y="4892576"/>
            <a:ext cx="3428857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UML, ER / database schema, architecture, constraints &amp; assumptions.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48775" y="3844826"/>
            <a:ext cx="3881438" cy="2177058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248775" y="6012359"/>
            <a:ext cx="388143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3" name="Shape 21"/>
          <p:cNvSpPr/>
          <p:nvPr/>
        </p:nvSpPr>
        <p:spPr>
          <a:xfrm>
            <a:off x="9248775" y="3844826"/>
            <a:ext cx="3881438" cy="28575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24" name="Shape 22"/>
          <p:cNvSpPr/>
          <p:nvPr/>
        </p:nvSpPr>
        <p:spPr>
          <a:xfrm>
            <a:off x="9248775" y="3844826"/>
            <a:ext cx="9525" cy="2177058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20688" y="3844826"/>
            <a:ext cx="9525" cy="2177058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0" y="4121051"/>
            <a:ext cx="34288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25000" y="4463951"/>
            <a:ext cx="34288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 &amp; Cases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9525000" y="4892576"/>
            <a:ext cx="342885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Unit, integration, and end-to-end cases, including edge cases.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339763" y="3844826"/>
            <a:ext cx="3881438" cy="2177058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3339763" y="6012359"/>
            <a:ext cx="388143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1" name="Shape 29"/>
          <p:cNvSpPr/>
          <p:nvPr/>
        </p:nvSpPr>
        <p:spPr>
          <a:xfrm>
            <a:off x="13339763" y="3844826"/>
            <a:ext cx="3881438" cy="28575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32" name="Shape 30"/>
          <p:cNvSpPr/>
          <p:nvPr/>
        </p:nvSpPr>
        <p:spPr>
          <a:xfrm>
            <a:off x="13339763" y="3844826"/>
            <a:ext cx="9525" cy="2177058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3" name="Shape 31"/>
          <p:cNvSpPr/>
          <p:nvPr/>
        </p:nvSpPr>
        <p:spPr>
          <a:xfrm>
            <a:off x="17211675" y="3844826"/>
            <a:ext cx="9525" cy="2177058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4" name="Text 32"/>
          <p:cNvSpPr/>
          <p:nvPr/>
        </p:nvSpPr>
        <p:spPr>
          <a:xfrm>
            <a:off x="13615988" y="4121051"/>
            <a:ext cx="34288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615988" y="4463951"/>
            <a:ext cx="34288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Guide</a:t>
            </a:r>
            <a:endParaRPr lang="en-US" sz="2175" dirty="0"/>
          </a:p>
        </p:txBody>
      </p:sp>
      <p:sp>
        <p:nvSpPr>
          <p:cNvPr id="36" name="Text 34"/>
          <p:cNvSpPr/>
          <p:nvPr/>
        </p:nvSpPr>
        <p:spPr>
          <a:xfrm>
            <a:off x="13615988" y="4892576"/>
            <a:ext cx="342885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Environments, CI/CD pipeline, and a release runbook.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66800" y="6231434"/>
            <a:ext cx="3881438" cy="1879997"/>
          </a:xfrm>
          <a:prstGeom prst="roundRect">
            <a:avLst>
              <a:gd name="adj" fmla="val 2533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6800" y="8101905"/>
            <a:ext cx="388143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6800" y="6231434"/>
            <a:ext cx="3881438" cy="28575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6800" y="6231434"/>
            <a:ext cx="9525" cy="1879997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41" name="Shape 39"/>
          <p:cNvSpPr/>
          <p:nvPr/>
        </p:nvSpPr>
        <p:spPr>
          <a:xfrm>
            <a:off x="4938713" y="6231434"/>
            <a:ext cx="9525" cy="1879997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42" name="Text 40"/>
          <p:cNvSpPr/>
          <p:nvPr/>
        </p:nvSpPr>
        <p:spPr>
          <a:xfrm>
            <a:off x="1343025" y="6507659"/>
            <a:ext cx="34288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43025" y="6850559"/>
            <a:ext cx="34288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Makefile</a:t>
            </a:r>
            <a:endParaRPr lang="en-US" sz="2175" dirty="0"/>
          </a:p>
        </p:txBody>
      </p:sp>
      <p:sp>
        <p:nvSpPr>
          <p:cNvPr id="44" name="Text 42"/>
          <p:cNvSpPr/>
          <p:nvPr/>
        </p:nvSpPr>
        <p:spPr>
          <a:xfrm>
            <a:off x="1343025" y="7279184"/>
            <a:ext cx="342885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One-command local tasks: make dev, test, lint, and seed.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157788" y="6231434"/>
            <a:ext cx="3881438" cy="1879997"/>
          </a:xfrm>
          <a:prstGeom prst="roundRect">
            <a:avLst>
              <a:gd name="adj" fmla="val 2533"/>
            </a:avLst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157788" y="8101905"/>
            <a:ext cx="388143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47" name="Shape 45"/>
          <p:cNvSpPr/>
          <p:nvPr/>
        </p:nvSpPr>
        <p:spPr>
          <a:xfrm>
            <a:off x="5157788" y="6231434"/>
            <a:ext cx="3881438" cy="28575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48" name="Shape 46"/>
          <p:cNvSpPr/>
          <p:nvPr/>
        </p:nvSpPr>
        <p:spPr>
          <a:xfrm>
            <a:off x="5157788" y="6231434"/>
            <a:ext cx="9525" cy="1879997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49" name="Shape 47"/>
          <p:cNvSpPr/>
          <p:nvPr/>
        </p:nvSpPr>
        <p:spPr>
          <a:xfrm>
            <a:off x="9029700" y="6231434"/>
            <a:ext cx="9525" cy="1879997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50" name="Text 48"/>
          <p:cNvSpPr/>
          <p:nvPr/>
        </p:nvSpPr>
        <p:spPr>
          <a:xfrm>
            <a:off x="5434013" y="6507659"/>
            <a:ext cx="34288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434013" y="6850559"/>
            <a:ext cx="34288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&amp; Setup Guide</a:t>
            </a:r>
            <a:endParaRPr lang="en-US" sz="2175" dirty="0"/>
          </a:p>
        </p:txBody>
      </p:sp>
      <p:sp>
        <p:nvSpPr>
          <p:cNvPr id="52" name="Text 50"/>
          <p:cNvSpPr/>
          <p:nvPr/>
        </p:nvSpPr>
        <p:spPr>
          <a:xfrm>
            <a:off x="5434013" y="7279184"/>
            <a:ext cx="342885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steps, seeded demo data, and how to run the app.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248775" y="6231434"/>
            <a:ext cx="3881438" cy="1879997"/>
          </a:xfrm>
          <a:prstGeom prst="roundRect">
            <a:avLst>
              <a:gd name="adj" fmla="val 2533"/>
            </a:avLst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9248775" y="8101905"/>
            <a:ext cx="3881438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55" name="Shape 53"/>
          <p:cNvSpPr/>
          <p:nvPr/>
        </p:nvSpPr>
        <p:spPr>
          <a:xfrm>
            <a:off x="9248775" y="6231434"/>
            <a:ext cx="3881438" cy="28575"/>
          </a:xfrm>
          <a:prstGeom prst="rect">
            <a:avLst/>
          </a:prstGeom>
          <a:solidFill>
            <a:srgbClr val="2F8A55"/>
          </a:solidFill>
          <a:ln/>
        </p:spPr>
      </p:sp>
      <p:sp>
        <p:nvSpPr>
          <p:cNvPr id="56" name="Shape 54"/>
          <p:cNvSpPr/>
          <p:nvPr/>
        </p:nvSpPr>
        <p:spPr>
          <a:xfrm>
            <a:off x="9248775" y="6231434"/>
            <a:ext cx="9525" cy="1879997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57" name="Shape 55"/>
          <p:cNvSpPr/>
          <p:nvPr/>
        </p:nvSpPr>
        <p:spPr>
          <a:xfrm>
            <a:off x="13120688" y="6231434"/>
            <a:ext cx="9525" cy="1879997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58" name="Text 56"/>
          <p:cNvSpPr/>
          <p:nvPr/>
        </p:nvSpPr>
        <p:spPr>
          <a:xfrm>
            <a:off x="9525000" y="6507659"/>
            <a:ext cx="34288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9525000" y="6850559"/>
            <a:ext cx="342885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Minutes</a:t>
            </a:r>
            <a:endParaRPr lang="en-US" sz="2175" dirty="0"/>
          </a:p>
        </p:txBody>
      </p:sp>
      <p:sp>
        <p:nvSpPr>
          <p:cNvPr id="60" name="Text 58"/>
          <p:cNvSpPr/>
          <p:nvPr/>
        </p:nvSpPr>
        <p:spPr>
          <a:xfrm>
            <a:off x="9525000" y="7279184"/>
            <a:ext cx="3428857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Projects board and the Wiki meeting-minutes log.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6923841" y="9592381"/>
            <a:ext cx="373559" cy="295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41818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 · SEMESTER PLAN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886200" y="2336155"/>
            <a:ext cx="1184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94225" y="2336155"/>
            <a:ext cx="1184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02251" y="2336155"/>
            <a:ext cx="11843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10425" y="2336155"/>
            <a:ext cx="1184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18450" y="2336155"/>
            <a:ext cx="1184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26476" y="2336155"/>
            <a:ext cx="11843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34650" y="2336155"/>
            <a:ext cx="1184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642675" y="2336155"/>
            <a:ext cx="1184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750701" y="2336155"/>
            <a:ext cx="11843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858875" y="2336155"/>
            <a:ext cx="1184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66900" y="2336155"/>
            <a:ext cx="1184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74926" y="2336155"/>
            <a:ext cx="118437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2726680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2850505"/>
            <a:ext cx="27717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3924300" y="2902893"/>
            <a:ext cx="2216051" cy="228600"/>
          </a:xfrm>
          <a:prstGeom prst="roundRect">
            <a:avLst>
              <a:gd name="adj" fmla="val 12500"/>
            </a:avLst>
          </a:prstGeom>
          <a:solidFill>
            <a:srgbClr val="2F8A5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6800" y="3298180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" y="3422005"/>
            <a:ext cx="27717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Review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066800" y="3869680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800" y="3993505"/>
            <a:ext cx="27717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66800" y="4441180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" y="4565005"/>
            <a:ext cx="27717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build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8356550" y="4617393"/>
            <a:ext cx="3324225" cy="228600"/>
          </a:xfrm>
          <a:prstGeom prst="roundRect">
            <a:avLst>
              <a:gd name="adj" fmla="val 12500"/>
            </a:avLst>
          </a:prstGeom>
          <a:solidFill>
            <a:srgbClr val="2F8A5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6800" y="5012680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5136505"/>
            <a:ext cx="27717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QA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1066800" y="5584180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0" name="Text 28"/>
          <p:cNvSpPr/>
          <p:nvPr/>
        </p:nvSpPr>
        <p:spPr>
          <a:xfrm>
            <a:off x="1066800" y="5708005"/>
            <a:ext cx="27717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build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11680775" y="5760393"/>
            <a:ext cx="3324225" cy="228600"/>
          </a:xfrm>
          <a:prstGeom prst="roundRect">
            <a:avLst>
              <a:gd name="adj" fmla="val 12500"/>
            </a:avLst>
          </a:prstGeom>
          <a:solidFill>
            <a:srgbClr val="2F8A5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6800" y="6155680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3" name="Text 31"/>
          <p:cNvSpPr/>
          <p:nvPr/>
        </p:nvSpPr>
        <p:spPr>
          <a:xfrm>
            <a:off x="1066800" y="6279505"/>
            <a:ext cx="27717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Docs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1066800" y="6727180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5" name="Text 33"/>
          <p:cNvSpPr/>
          <p:nvPr/>
        </p:nvSpPr>
        <p:spPr>
          <a:xfrm>
            <a:off x="1066800" y="6851005"/>
            <a:ext cx="27717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2025" dirty="0"/>
          </a:p>
        </p:txBody>
      </p:sp>
      <p:sp>
        <p:nvSpPr>
          <p:cNvPr id="36" name="Shape 34"/>
          <p:cNvSpPr/>
          <p:nvPr/>
        </p:nvSpPr>
        <p:spPr>
          <a:xfrm rot="2700000">
            <a:off x="6658570" y="7470130"/>
            <a:ext cx="152400" cy="152400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37" name="Text 35"/>
          <p:cNvSpPr/>
          <p:nvPr/>
        </p:nvSpPr>
        <p:spPr>
          <a:xfrm>
            <a:off x="6079331" y="7689205"/>
            <a:ext cx="13108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Inception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 rot="2700000">
            <a:off x="11113889" y="7470130"/>
            <a:ext cx="152400" cy="152400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39" name="Text 37"/>
          <p:cNvSpPr/>
          <p:nvPr/>
        </p:nvSpPr>
        <p:spPr>
          <a:xfrm>
            <a:off x="10603706" y="7689205"/>
            <a:ext cx="11727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 Demo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 rot="2700000">
            <a:off x="14403586" y="7470130"/>
            <a:ext cx="152400" cy="152400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41" name="Text 39"/>
          <p:cNvSpPr/>
          <p:nvPr/>
        </p:nvSpPr>
        <p:spPr>
          <a:xfrm>
            <a:off x="13893403" y="7689205"/>
            <a:ext cx="11727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Demo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 rot="2700000">
            <a:off x="16596717" y="7470130"/>
            <a:ext cx="152400" cy="152400"/>
          </a:xfrm>
          <a:prstGeom prst="rect">
            <a:avLst/>
          </a:prstGeom>
          <a:solidFill>
            <a:srgbClr val="16161A"/>
          </a:solidFill>
          <a:ln/>
        </p:spPr>
      </p:sp>
      <p:sp>
        <p:nvSpPr>
          <p:cNvPr id="43" name="Text 41"/>
          <p:cNvSpPr/>
          <p:nvPr/>
        </p:nvSpPr>
        <p:spPr>
          <a:xfrm>
            <a:off x="16086534" y="7689205"/>
            <a:ext cx="11727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66800" y="9592380"/>
            <a:ext cx="105502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Aligned to the ICS 613 schedule · one-week iterations within R1 and R2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6923841" y="9591675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17679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&amp; Deliverables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2317105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469505"/>
            <a:ext cx="4420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66800" y="2907655"/>
            <a:ext cx="2362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 · Jun 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33800" y="2488555"/>
            <a:ext cx="1389202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Inception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733800" y="2926705"/>
            <a:ext cx="13892022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Inception presentation, core requirements, and the requirements packet (due Jun 8).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66800" y="3396407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548807"/>
            <a:ext cx="4420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66800" y="3986957"/>
            <a:ext cx="2362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 · Jun 16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3800" y="3567857"/>
            <a:ext cx="1389202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review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733800" y="4006007"/>
            <a:ext cx="13892022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review presentation and the peer-review report (due Jun 15).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66800" y="4475708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4628108"/>
            <a:ext cx="4420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66800" y="5066258"/>
            <a:ext cx="2362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6 · Jul 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33800" y="4647158"/>
            <a:ext cx="1389202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3733800" y="5085308"/>
            <a:ext cx="13892022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 document: UML, ER / database schema, and API contracts (due Jul 1).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66800" y="5555010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" y="5707410"/>
            <a:ext cx="4420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66800" y="6145560"/>
            <a:ext cx="2362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7 · Jul 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33800" y="5726460"/>
            <a:ext cx="1389202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 demo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3733800" y="6164610"/>
            <a:ext cx="13892022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presentation and the first working release; manual test cases follow in Week 8.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66800" y="6634311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6786711"/>
            <a:ext cx="4420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66800" y="7224861"/>
            <a:ext cx="2362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10 · Jul 28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33800" y="6805761"/>
            <a:ext cx="1389202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2 demo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3733800" y="7243911"/>
            <a:ext cx="13892022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presentation and the second working release, with R1 retrospective fixes.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066800" y="7713613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1" name="Text 29"/>
          <p:cNvSpPr/>
          <p:nvPr/>
        </p:nvSpPr>
        <p:spPr>
          <a:xfrm>
            <a:off x="1066800" y="7866013"/>
            <a:ext cx="4420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66800" y="8304163"/>
            <a:ext cx="2362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11 · Aug 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733800" y="7885063"/>
            <a:ext cx="1389202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3733800" y="8323213"/>
            <a:ext cx="13892022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guide and a deployed application.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066800" y="9872216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6800" y="8792914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37" name="Text 35"/>
          <p:cNvSpPr/>
          <p:nvPr/>
        </p:nvSpPr>
        <p:spPr>
          <a:xfrm>
            <a:off x="1066800" y="8945314"/>
            <a:ext cx="4420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M7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066800" y="9383464"/>
            <a:ext cx="2362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12 · Aug 11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733800" y="8964364"/>
            <a:ext cx="1389202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delivery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3733800" y="9402514"/>
            <a:ext cx="13892022" cy="364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presentation, final submission, peer evaluation, and individual reflection.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6923841" y="9592380"/>
            <a:ext cx="373559" cy="295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414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95785" y="819150"/>
            <a:ext cx="17679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1333500"/>
            <a:ext cx="9041526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76400" y="4778722"/>
            <a:ext cx="7395972" cy="73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</a:t>
            </a:r>
            <a:pPr algn="l" indent="0" marL="0">
              <a:lnSpc>
                <a:spcPct val="134000"/>
              </a:lnSpc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inception feedback </a:t>
            </a:r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the requirements packet.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0058400" y="4778722"/>
            <a:ext cx="7395972" cy="73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</a:t>
            </a:r>
            <a:pPr algn="l" indent="0" marL="0">
              <a:lnSpc>
                <a:spcPct val="134000"/>
              </a:lnSpc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Review </a:t>
            </a:r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(Week 4, Jun 16).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676400" y="5801171"/>
            <a:ext cx="7395972" cy="392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</a:t>
            </a:r>
            <a:pPr algn="l" indent="0" marL="0">
              <a:lnSpc>
                <a:spcPct val="134000"/>
              </a:lnSpc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 Document </a:t>
            </a:r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(Week 6, Jul 1).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0058400" y="5801171"/>
            <a:ext cx="7395972" cy="392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the </a:t>
            </a:r>
            <a:pPr algn="l" indent="0" marL="0">
              <a:lnSpc>
                <a:spcPct val="134000"/>
              </a:lnSpc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build </a:t>
            </a:r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one-week iterations.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676400" y="6479084"/>
            <a:ext cx="7395972" cy="736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the first working release at the </a:t>
            </a:r>
            <a:pPr algn="l" indent="0" marL="0">
              <a:lnSpc>
                <a:spcPct val="134000"/>
              </a:lnSpc>
              <a:buNone/>
            </a:pPr>
            <a:r>
              <a:rPr lang="en-US" sz="2025" b="1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demo </a:t>
            </a:r>
            <a:pPr algn="l" indent="0" marL="0">
              <a:lnSpc>
                <a:spcPct val="134000"/>
              </a:lnSpc>
              <a:buNone/>
            </a:pPr>
            <a:r>
              <a:rPr lang="en-US" sz="202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(Week 7, Jul 7).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6923841" y="9592374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950" y="819150"/>
            <a:ext cx="12604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ICS 613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841575" y="819150"/>
            <a:ext cx="34848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2F8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PROJECT INITIATION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66800" y="3604617"/>
            <a:ext cx="16639032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0" b="1" spc="-216" kern="0" dirty="0">
                <a:solidFill>
                  <a:srgbClr val="16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pPr algn="l" indent="0" marL="0">
              <a:lnSpc>
                <a:spcPct val="92000"/>
              </a:lnSpc>
              <a:buNone/>
            </a:pPr>
            <a:r>
              <a:rPr lang="en-US" sz="7200" b="1" spc="-216" kern="0" dirty="0">
                <a:solidFill>
                  <a:srgbClr val="2F8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66800" y="4731544"/>
            <a:ext cx="6241936" cy="1026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welcome.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66800" y="8620125"/>
            <a:ext cx="16154400" cy="9525"/>
          </a:xfrm>
          <a:prstGeom prst="rect">
            <a:avLst/>
          </a:prstGeom>
          <a:solidFill>
            <a:srgbClr val="E2E1DA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8953500"/>
            <a:ext cx="90608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6800" y="9296400"/>
            <a:ext cx="90608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github.com/kennank27/ICS613_Summer2026_FinalProject_Team4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0473333" y="8953500"/>
            <a:ext cx="10022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3333" y="9296400"/>
            <a:ext cx="10022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4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6923841" y="9592373"/>
            <a:ext cx="3735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8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2026-06-04T06:33:34Z</dcterms:created>
  <dcterms:modified xsi:type="dcterms:W3CDTF">2026-06-04T06:33:34Z</dcterms:modified>
</cp:coreProperties>
</file>